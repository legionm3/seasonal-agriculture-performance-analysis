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107" d="100"/>
          <a:sy n="107" d="100"/>
        </p:scale>
        <p:origin x="96" y="22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03344" y="3650546"/>
            <a:ext cx="6345897" cy="861497"/>
          </a:xfrm>
        </p:spPr>
        <p:txBody>
          <a:bodyPr vert="horz" lIns="91440" tIns="45720" rIns="91440" bIns="45720" rtlCol="0" anchor="t">
            <a:noAutofit/>
          </a:bodyPr>
          <a:lstStyle/>
          <a:p>
            <a:pPr>
              <a:lnSpc>
                <a:spcPct val="120000"/>
              </a:lnSpc>
            </a:pPr>
            <a:r>
              <a:rPr lang="en-IN" sz="1600" dirty="0">
                <a:latin typeface="+mn-lt"/>
              </a:rPr>
              <a:t>Presented By: Mohith R</a:t>
            </a:r>
            <a:br>
              <a:rPr lang="en-IN" sz="1600" dirty="0">
                <a:latin typeface="+mn-lt"/>
              </a:rPr>
            </a:br>
            <a:r>
              <a:rPr lang="en-IN" sz="1600" dirty="0">
                <a:latin typeface="+mn-lt"/>
              </a:rPr>
              <a:t>Department: Artificial Intelligence and Data Science</a:t>
            </a:r>
            <a:br>
              <a:rPr lang="en-IN" sz="1600" dirty="0">
                <a:latin typeface="+mn-lt"/>
              </a:rPr>
            </a:br>
            <a:r>
              <a:rPr lang="en-IN" sz="1600" dirty="0">
                <a:latin typeface="+mn-lt"/>
              </a:rPr>
              <a:t>College: </a:t>
            </a:r>
            <a:r>
              <a:rPr lang="en-IN" sz="1600" dirty="0" err="1">
                <a:latin typeface="+mn-lt"/>
              </a:rPr>
              <a:t>Chettinad</a:t>
            </a:r>
            <a:r>
              <a:rPr lang="en-IN" sz="1600" dirty="0">
                <a:latin typeface="+mn-lt"/>
              </a:rPr>
              <a:t> College of Engineering and Technology</a:t>
            </a:r>
            <a:endParaRPr lang="en-IN" sz="1600" b="0" dirty="0">
              <a:solidFill>
                <a:schemeClr val="tx1"/>
              </a:solidFill>
              <a:latin typeface="+mn-lt"/>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03345" y="2844750"/>
            <a:ext cx="10983205" cy="743448"/>
          </a:xfrm>
        </p:spPr>
        <p:txBody>
          <a:bodyPr>
            <a:normAutofit/>
          </a:bodyPr>
          <a:lstStyle/>
          <a:p>
            <a:r>
              <a:rPr lang="en-GB" sz="3200" dirty="0"/>
              <a:t>Project Title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203343" y="4653660"/>
            <a:ext cx="5645253" cy="369332"/>
          </a:xfrm>
          <a:prstGeom prst="rect">
            <a:avLst/>
          </a:prstGeom>
          <a:noFill/>
        </p:spPr>
        <p:txBody>
          <a:bodyPr wrap="square" rtlCol="0">
            <a:spAutoFit/>
          </a:bodyPr>
          <a:lstStyle/>
          <a:p>
            <a:r>
              <a:rPr lang="en-US" b="1" dirty="0"/>
              <a:t>AICTE STU ID : STU6937e094eb00e1765269652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65528" y="2262548"/>
            <a:ext cx="7430155" cy="3607987"/>
          </a:xfrm>
        </p:spPr>
        <p:txBody>
          <a:bodyPr vert="horz" lIns="91440" tIns="45720" rIns="91440" bIns="45720" rtlCol="0" anchor="t">
            <a:normAutofit fontScale="47500" lnSpcReduction="20000"/>
          </a:bodyPr>
          <a:lstStyle/>
          <a:p>
            <a:pPr marL="0" indent="0" algn="just">
              <a:buNone/>
            </a:pPr>
            <a:r>
              <a:rPr lang="en-IN" sz="3800" dirty="0"/>
              <a:t>Agricultural activities are influenced by seasonal variations in rainfall, temperature, humidity, soil conditions, resource availability, and farming practices. These variations often lead to differences in crop productivity, resource utilization, and economic performance.</a:t>
            </a:r>
          </a:p>
          <a:p>
            <a:pPr marL="0" indent="0" algn="just">
              <a:buNone/>
            </a:pPr>
            <a:r>
              <a:rPr lang="en-IN" sz="3800" dirty="0"/>
              <a:t>Although agricultural data contains valuable information, seasonal patterns and relationships are not always apparent from raw records alone.</a:t>
            </a:r>
          </a:p>
          <a:p>
            <a:pPr marL="0" indent="0" algn="just">
              <a:buNone/>
            </a:pPr>
            <a:r>
              <a:rPr lang="en-IN" sz="3800" dirty="0"/>
              <a:t>This project focuses on </a:t>
            </a:r>
            <a:r>
              <a:rPr lang="en-IN" sz="3800" dirty="0" err="1"/>
              <a:t>analyzing</a:t>
            </a:r>
            <a:r>
              <a:rPr lang="en-IN" sz="3800" dirty="0"/>
              <a:t> agricultural data collected across different seasons to identify meaningful trends, variations, and relationships that affect agricultural performance. The study aims to transform raw data into actionable insights that support better understanding of seasonal agricultural </a:t>
            </a:r>
            <a:r>
              <a:rPr lang="en-IN" sz="3800" dirty="0" err="1"/>
              <a:t>behavior</a:t>
            </a:r>
            <a:r>
              <a:rPr lang="en-IN" sz="3800" dirty="0"/>
              <a:t>.</a:t>
            </a:r>
          </a:p>
          <a:p>
            <a:pPr marL="0" indent="0">
              <a:lnSpc>
                <a:spcPct val="100000"/>
              </a:lnSpc>
              <a:buNone/>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 Placeholder 1">
            <a:extLst>
              <a:ext uri="{FF2B5EF4-FFF2-40B4-BE49-F238E27FC236}">
                <a16:creationId xmlns:a16="http://schemas.microsoft.com/office/drawing/2014/main" id="{E98F63CF-6166-8949-A18C-DF16E72F8102}"/>
              </a:ext>
            </a:extLst>
          </p:cNvPr>
          <p:cNvSpPr>
            <a:spLocks noGrp="1"/>
          </p:cNvSpPr>
          <p:nvPr>
            <p:ph type="body" sz="quarter" idx="12"/>
          </p:nvPr>
        </p:nvSpPr>
        <p:spPr>
          <a:xfrm>
            <a:off x="565529" y="2042851"/>
            <a:ext cx="8750664" cy="3607987"/>
          </a:xfrm>
        </p:spPr>
        <p:txBody>
          <a:bodyPr vert="horz" lIns="91440" tIns="45720" rIns="91440" bIns="45720" rtlCol="0" anchor="t">
            <a:noAutofit/>
          </a:bodyPr>
          <a:lstStyle/>
          <a:p>
            <a:pPr marL="0" indent="0" algn="just">
              <a:buNone/>
            </a:pPr>
            <a:r>
              <a:rPr lang="en-IN" sz="1500" dirty="0"/>
              <a:t>The Seasonal Agriculture Performance Analysis project examines agricultural activities across different seasons using data analytics techniques.</a:t>
            </a:r>
          </a:p>
          <a:p>
            <a:pPr marL="0" indent="0" algn="just">
              <a:buNone/>
            </a:pPr>
            <a:r>
              <a:rPr lang="en-IN" sz="1500" dirty="0"/>
              <a:t>The analysis begins with understanding the dataset and assessing data quality through preprocessing and cleaning. Exploratory Data Analysis (EDA) is then performed to investigate seasonal variations in crop production, environmental conditions, resource utilization, and economic outcomes.</a:t>
            </a:r>
          </a:p>
          <a:p>
            <a:pPr marL="0" indent="0" algn="just">
              <a:buNone/>
            </a:pPr>
            <a:r>
              <a:rPr lang="en-IN" sz="1500" dirty="0"/>
              <a:t>The project focuses on:</a:t>
            </a:r>
          </a:p>
          <a:p>
            <a:pPr lvl="0" algn="just"/>
            <a:r>
              <a:rPr lang="en-IN" sz="1500" dirty="0"/>
              <a:t>Understanding seasonal agricultural trends</a:t>
            </a:r>
          </a:p>
          <a:p>
            <a:pPr lvl="0" algn="just"/>
            <a:r>
              <a:rPr lang="en-IN" sz="1500" dirty="0"/>
              <a:t>Comparing performance across seasons</a:t>
            </a:r>
          </a:p>
          <a:p>
            <a:pPr lvl="0" algn="just"/>
            <a:r>
              <a:rPr lang="en-IN" sz="1500" dirty="0"/>
              <a:t>Examining environmental influences</a:t>
            </a:r>
          </a:p>
          <a:p>
            <a:pPr lvl="0" algn="just"/>
            <a:r>
              <a:rPr lang="en-IN" sz="1500" dirty="0"/>
              <a:t>Evaluating resource utilization</a:t>
            </a:r>
          </a:p>
          <a:p>
            <a:pPr lvl="0" algn="just"/>
            <a:r>
              <a:rPr lang="en-IN" sz="1500" dirty="0" err="1"/>
              <a:t>Analyzing</a:t>
            </a:r>
            <a:r>
              <a:rPr lang="en-IN" sz="1500" dirty="0"/>
              <a:t> revenue and profit patterns</a:t>
            </a:r>
          </a:p>
          <a:p>
            <a:pPr lvl="0" algn="just"/>
            <a:r>
              <a:rPr lang="en-IN" sz="1500" dirty="0"/>
              <a:t>Identifying significant relationships within the data</a:t>
            </a:r>
          </a:p>
          <a:p>
            <a:pPr marL="0" indent="0" algn="just">
              <a:buNone/>
            </a:pPr>
            <a:r>
              <a:rPr lang="en-IN" sz="1500" dirty="0"/>
              <a:t>The outcome of the project is a set of data-driven insights and recommendations derived from observed patterns in the dataset.</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Text Placeholder 1">
            <a:extLst>
              <a:ext uri="{FF2B5EF4-FFF2-40B4-BE49-F238E27FC236}">
                <a16:creationId xmlns:a16="http://schemas.microsoft.com/office/drawing/2014/main" id="{DB8739A5-1391-8B64-5A1C-20508BA49134}"/>
              </a:ext>
            </a:extLst>
          </p:cNvPr>
          <p:cNvSpPr>
            <a:spLocks noGrp="1"/>
          </p:cNvSpPr>
          <p:nvPr>
            <p:ph type="body" sz="quarter" idx="12"/>
          </p:nvPr>
        </p:nvSpPr>
        <p:spPr>
          <a:xfrm>
            <a:off x="339897" y="1639094"/>
            <a:ext cx="8976295" cy="3607987"/>
          </a:xfrm>
        </p:spPr>
        <p:txBody>
          <a:bodyPr vert="horz" lIns="91440" tIns="45720" rIns="91440" bIns="45720" rtlCol="0" anchor="t">
            <a:noAutofit/>
          </a:bodyPr>
          <a:lstStyle/>
          <a:p>
            <a:pPr marL="0" indent="0" algn="just">
              <a:buNone/>
            </a:pPr>
            <a:r>
              <a:rPr lang="en-IN" sz="1500" b="1" dirty="0">
                <a:latin typeface="+mj-lt"/>
              </a:rPr>
              <a:t>Farmers</a:t>
            </a:r>
          </a:p>
          <a:p>
            <a:pPr algn="just"/>
            <a:r>
              <a:rPr lang="en-IN" sz="1500" dirty="0"/>
              <a:t>Seasonal insights can help farmers better understand crop performance under different environmental conditions and support planning decisions.</a:t>
            </a:r>
          </a:p>
          <a:p>
            <a:pPr marL="0" indent="0" algn="just">
              <a:buNone/>
            </a:pPr>
            <a:r>
              <a:rPr lang="en-IN" sz="1500" b="1" dirty="0">
                <a:latin typeface="+mj-lt"/>
              </a:rPr>
              <a:t>Agricultural Researchers</a:t>
            </a:r>
          </a:p>
          <a:p>
            <a:pPr algn="just"/>
            <a:r>
              <a:rPr lang="en-IN" sz="1500" dirty="0"/>
              <a:t>The analysis provides a structured view of seasonal agricultural patterns and relationships that can support further research.</a:t>
            </a:r>
          </a:p>
          <a:p>
            <a:pPr marL="0" indent="0" algn="just">
              <a:buNone/>
            </a:pPr>
            <a:r>
              <a:rPr lang="en-IN" sz="1500" b="1" dirty="0">
                <a:latin typeface="+mj-lt"/>
              </a:rPr>
              <a:t>Government and Policy Makers</a:t>
            </a:r>
          </a:p>
          <a:p>
            <a:pPr algn="just"/>
            <a:r>
              <a:rPr lang="en-IN" sz="1500" dirty="0"/>
              <a:t>The findings can assist in agricultural planning, resource allocation, and the development of seasonal support initiatives.</a:t>
            </a:r>
          </a:p>
          <a:p>
            <a:pPr marL="0" indent="0" algn="just">
              <a:buNone/>
            </a:pPr>
            <a:r>
              <a:rPr lang="en-IN" sz="1500" b="1" dirty="0">
                <a:latin typeface="+mj-lt"/>
              </a:rPr>
              <a:t>Agribusiness Organizations</a:t>
            </a:r>
          </a:p>
          <a:p>
            <a:pPr algn="just"/>
            <a:r>
              <a:rPr lang="en-IN" sz="1500" dirty="0"/>
              <a:t>Understanding seasonal productivity and profitability patterns can support operational and strategic decision-making.</a:t>
            </a:r>
          </a:p>
          <a:p>
            <a:pPr marL="0" indent="0" algn="just">
              <a:buNone/>
            </a:pPr>
            <a:r>
              <a:rPr lang="en-IN" sz="1500" b="1" dirty="0">
                <a:latin typeface="+mj-lt"/>
              </a:rPr>
              <a:t>Educational Institutions</a:t>
            </a:r>
          </a:p>
          <a:p>
            <a:pPr algn="just"/>
            <a:r>
              <a:rPr lang="en-IN" sz="1500" dirty="0"/>
              <a:t>The project serves as a practical example of applying data analytics techniques to a real-world agricultural problem.</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Effect transition="in" filter="fade">
                                      <p:cBhvr>
                                        <p:cTn id="56" dur="1000"/>
                                        <p:tgtEl>
                                          <p:spTgt spid="3">
                                            <p:txEl>
                                              <p:pRg st="6" end="6"/>
                                            </p:txEl>
                                          </p:spTgt>
                                        </p:tgtEl>
                                      </p:cBhvr>
                                    </p:animEffect>
                                    <p:anim calcmode="lin" valueType="num">
                                      <p:cBhvr>
                                        <p:cTn id="5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Effect transition="in" filter="fade">
                                      <p:cBhvr>
                                        <p:cTn id="63" dur="1000"/>
                                        <p:tgtEl>
                                          <p:spTgt spid="3">
                                            <p:txEl>
                                              <p:pRg st="7" end="7"/>
                                            </p:txEl>
                                          </p:spTgt>
                                        </p:tgtEl>
                                      </p:cBhvr>
                                    </p:animEffect>
                                    <p:anim calcmode="lin" valueType="num">
                                      <p:cBhvr>
                                        <p:cTn id="6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8" end="8"/>
                                            </p:txEl>
                                          </p:spTgt>
                                        </p:tgtEl>
                                        <p:attrNameLst>
                                          <p:attrName>style.visibility</p:attrName>
                                        </p:attrNameLst>
                                      </p:cBhvr>
                                      <p:to>
                                        <p:strVal val="visible"/>
                                      </p:to>
                                    </p:set>
                                    <p:animEffect transition="in" filter="fade">
                                      <p:cBhvr>
                                        <p:cTn id="70" dur="1000"/>
                                        <p:tgtEl>
                                          <p:spTgt spid="3">
                                            <p:txEl>
                                              <p:pRg st="8" end="8"/>
                                            </p:txEl>
                                          </p:spTgt>
                                        </p:tgtEl>
                                      </p:cBhvr>
                                    </p:animEffect>
                                    <p:anim calcmode="lin" valueType="num">
                                      <p:cBhvr>
                                        <p:cTn id="71"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9" end="9"/>
                                            </p:txEl>
                                          </p:spTgt>
                                        </p:tgtEl>
                                        <p:attrNameLst>
                                          <p:attrName>style.visibility</p:attrName>
                                        </p:attrNameLst>
                                      </p:cBhvr>
                                      <p:to>
                                        <p:strVal val="visible"/>
                                      </p:to>
                                    </p:set>
                                    <p:animEffect transition="in" filter="fade">
                                      <p:cBhvr>
                                        <p:cTn id="77" dur="1000"/>
                                        <p:tgtEl>
                                          <p:spTgt spid="3">
                                            <p:txEl>
                                              <p:pRg st="9" end="9"/>
                                            </p:txEl>
                                          </p:spTgt>
                                        </p:tgtEl>
                                      </p:cBhvr>
                                    </p:animEffect>
                                    <p:anim calcmode="lin" valueType="num">
                                      <p:cBhvr>
                                        <p:cTn id="7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5" name="Text Placeholder 1">
            <a:extLst>
              <a:ext uri="{FF2B5EF4-FFF2-40B4-BE49-F238E27FC236}">
                <a16:creationId xmlns:a16="http://schemas.microsoft.com/office/drawing/2014/main" id="{96948405-AC3E-69F2-D5E1-DD3B4903106E}"/>
              </a:ext>
            </a:extLst>
          </p:cNvPr>
          <p:cNvSpPr>
            <a:spLocks noGrp="1"/>
          </p:cNvSpPr>
          <p:nvPr>
            <p:ph type="body" sz="quarter" idx="12"/>
          </p:nvPr>
        </p:nvSpPr>
        <p:spPr>
          <a:xfrm>
            <a:off x="2320485" y="1435488"/>
            <a:ext cx="2661214" cy="2702580"/>
          </a:xfrm>
        </p:spPr>
        <p:txBody>
          <a:bodyPr vert="horz" lIns="91440" tIns="45720" rIns="91440" bIns="45720" rtlCol="0" anchor="t">
            <a:noAutofit/>
          </a:bodyPr>
          <a:lstStyle/>
          <a:p>
            <a:pPr>
              <a:buFont typeface="Arial" panose="020B0604020202020204" pitchFamily="34" charset="0"/>
              <a:buChar char="•"/>
            </a:pPr>
            <a:r>
              <a:rPr lang="en-IN" sz="1600" dirty="0"/>
              <a:t>Python, </a:t>
            </a:r>
          </a:p>
          <a:p>
            <a:pPr>
              <a:buFont typeface="Arial" panose="020B0604020202020204" pitchFamily="34" charset="0"/>
              <a:buChar char="•"/>
            </a:pPr>
            <a:r>
              <a:rPr lang="en-IN" sz="1600" dirty="0"/>
              <a:t>Pandas, </a:t>
            </a:r>
          </a:p>
          <a:p>
            <a:pPr>
              <a:buFont typeface="Arial" panose="020B0604020202020204" pitchFamily="34" charset="0"/>
              <a:buChar char="•"/>
            </a:pPr>
            <a:r>
              <a:rPr lang="en-IN" sz="1600" dirty="0"/>
              <a:t>NumPy, </a:t>
            </a:r>
          </a:p>
          <a:p>
            <a:pPr>
              <a:buFont typeface="Arial" panose="020B0604020202020204" pitchFamily="34" charset="0"/>
              <a:buChar char="•"/>
            </a:pPr>
            <a:r>
              <a:rPr lang="en-IN" sz="1600" dirty="0"/>
              <a:t>Matplotlib, </a:t>
            </a:r>
          </a:p>
          <a:p>
            <a:pPr>
              <a:buFont typeface="Arial" panose="020B0604020202020204" pitchFamily="34" charset="0"/>
              <a:buChar char="•"/>
            </a:pPr>
            <a:r>
              <a:rPr lang="en-IN" sz="1600" dirty="0"/>
              <a:t>Seaborn, </a:t>
            </a:r>
          </a:p>
          <a:p>
            <a:pPr>
              <a:buFont typeface="Arial" panose="020B0604020202020204" pitchFamily="34" charset="0"/>
              <a:buChar char="•"/>
            </a:pPr>
            <a:r>
              <a:rPr lang="en-IN" sz="1600" dirty="0" err="1"/>
              <a:t>Plotly</a:t>
            </a:r>
            <a:r>
              <a:rPr lang="en-IN" sz="1600" dirty="0"/>
              <a:t>, </a:t>
            </a:r>
          </a:p>
          <a:p>
            <a:pPr>
              <a:buFont typeface="Arial" panose="020B0604020202020204" pitchFamily="34" charset="0"/>
              <a:buChar char="•"/>
            </a:pPr>
            <a:r>
              <a:rPr lang="en-IN" sz="1600" dirty="0"/>
              <a:t>SciPy, </a:t>
            </a:r>
          </a:p>
          <a:p>
            <a:pPr>
              <a:buFont typeface="Arial" panose="020B0604020202020204" pitchFamily="34" charset="0"/>
              <a:buChar char="•"/>
            </a:pPr>
            <a:r>
              <a:rPr lang="en-IN" sz="1600" dirty="0"/>
              <a:t>Jupyter Notebook, </a:t>
            </a:r>
          </a:p>
          <a:p>
            <a:pPr>
              <a:buFont typeface="Arial" panose="020B0604020202020204" pitchFamily="34" charset="0"/>
              <a:buChar char="•"/>
            </a:pPr>
            <a:r>
              <a:rPr lang="en-IN" sz="1600" dirty="0"/>
              <a:t>Google </a:t>
            </a:r>
            <a:r>
              <a:rPr lang="en-IN" sz="1600" dirty="0" err="1"/>
              <a:t>Colab</a:t>
            </a:r>
            <a:endParaRPr lang="en-IN" sz="1600" dirty="0"/>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1000"/>
                                        <p:tgtEl>
                                          <p:spTgt spid="5">
                                            <p:txEl>
                                              <p:pRg st="1" end="1"/>
                                            </p:txEl>
                                          </p:spTgt>
                                        </p:tgtEl>
                                      </p:cBhvr>
                                    </p:animEffect>
                                    <p:anim calcmode="lin" valueType="num">
                                      <p:cBhvr>
                                        <p:cTn id="22"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xEl>
                                              <p:pRg st="2" end="2"/>
                                            </p:txEl>
                                          </p:spTgt>
                                        </p:tgtEl>
                                        <p:attrNameLst>
                                          <p:attrName>style.visibility</p:attrName>
                                        </p:attrNameLst>
                                      </p:cBhvr>
                                      <p:to>
                                        <p:strVal val="visible"/>
                                      </p:to>
                                    </p:set>
                                    <p:animEffect transition="in" filter="fade">
                                      <p:cBhvr>
                                        <p:cTn id="28" dur="1000"/>
                                        <p:tgtEl>
                                          <p:spTgt spid="5">
                                            <p:txEl>
                                              <p:pRg st="2" end="2"/>
                                            </p:txEl>
                                          </p:spTgt>
                                        </p:tgtEl>
                                      </p:cBhvr>
                                    </p:animEffect>
                                    <p:anim calcmode="lin" valueType="num">
                                      <p:cBhvr>
                                        <p:cTn id="29"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animEffect transition="in" filter="fade">
                                      <p:cBhvr>
                                        <p:cTn id="35" dur="1000"/>
                                        <p:tgtEl>
                                          <p:spTgt spid="5">
                                            <p:txEl>
                                              <p:pRg st="3" end="3"/>
                                            </p:txEl>
                                          </p:spTgt>
                                        </p:tgtEl>
                                      </p:cBhvr>
                                    </p:animEffect>
                                    <p:anim calcmode="lin" valueType="num">
                                      <p:cBhvr>
                                        <p:cTn id="36"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
                                            <p:txEl>
                                              <p:pRg st="4" end="4"/>
                                            </p:txEl>
                                          </p:spTgt>
                                        </p:tgtEl>
                                        <p:attrNameLst>
                                          <p:attrName>style.visibility</p:attrName>
                                        </p:attrNameLst>
                                      </p:cBhvr>
                                      <p:to>
                                        <p:strVal val="visible"/>
                                      </p:to>
                                    </p:set>
                                    <p:animEffect transition="in" filter="fade">
                                      <p:cBhvr>
                                        <p:cTn id="42" dur="1000"/>
                                        <p:tgtEl>
                                          <p:spTgt spid="5">
                                            <p:txEl>
                                              <p:pRg st="4" end="4"/>
                                            </p:txEl>
                                          </p:spTgt>
                                        </p:tgtEl>
                                      </p:cBhvr>
                                    </p:animEffect>
                                    <p:anim calcmode="lin" valueType="num">
                                      <p:cBhvr>
                                        <p:cTn id="4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
                                            <p:txEl>
                                              <p:pRg st="5" end="5"/>
                                            </p:txEl>
                                          </p:spTgt>
                                        </p:tgtEl>
                                        <p:attrNameLst>
                                          <p:attrName>style.visibility</p:attrName>
                                        </p:attrNameLst>
                                      </p:cBhvr>
                                      <p:to>
                                        <p:strVal val="visible"/>
                                      </p:to>
                                    </p:set>
                                    <p:animEffect transition="in" filter="fade">
                                      <p:cBhvr>
                                        <p:cTn id="49" dur="1000"/>
                                        <p:tgtEl>
                                          <p:spTgt spid="5">
                                            <p:txEl>
                                              <p:pRg st="5" end="5"/>
                                            </p:txEl>
                                          </p:spTgt>
                                        </p:tgtEl>
                                      </p:cBhvr>
                                    </p:animEffect>
                                    <p:anim calcmode="lin" valueType="num">
                                      <p:cBhvr>
                                        <p:cTn id="50"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5">
                                            <p:txEl>
                                              <p:pRg st="6" end="6"/>
                                            </p:txEl>
                                          </p:spTgt>
                                        </p:tgtEl>
                                        <p:attrNameLst>
                                          <p:attrName>style.visibility</p:attrName>
                                        </p:attrNameLst>
                                      </p:cBhvr>
                                      <p:to>
                                        <p:strVal val="visible"/>
                                      </p:to>
                                    </p:set>
                                    <p:animEffect transition="in" filter="fade">
                                      <p:cBhvr>
                                        <p:cTn id="56" dur="1000"/>
                                        <p:tgtEl>
                                          <p:spTgt spid="5">
                                            <p:txEl>
                                              <p:pRg st="6" end="6"/>
                                            </p:txEl>
                                          </p:spTgt>
                                        </p:tgtEl>
                                      </p:cBhvr>
                                    </p:animEffect>
                                    <p:anim calcmode="lin" valueType="num">
                                      <p:cBhvr>
                                        <p:cTn id="57"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5">
                                            <p:txEl>
                                              <p:pRg st="7" end="7"/>
                                            </p:txEl>
                                          </p:spTgt>
                                        </p:tgtEl>
                                        <p:attrNameLst>
                                          <p:attrName>style.visibility</p:attrName>
                                        </p:attrNameLst>
                                      </p:cBhvr>
                                      <p:to>
                                        <p:strVal val="visible"/>
                                      </p:to>
                                    </p:set>
                                    <p:animEffect transition="in" filter="fade">
                                      <p:cBhvr>
                                        <p:cTn id="63" dur="1000"/>
                                        <p:tgtEl>
                                          <p:spTgt spid="5">
                                            <p:txEl>
                                              <p:pRg st="7" end="7"/>
                                            </p:txEl>
                                          </p:spTgt>
                                        </p:tgtEl>
                                      </p:cBhvr>
                                    </p:animEffect>
                                    <p:anim calcmode="lin" valueType="num">
                                      <p:cBhvr>
                                        <p:cTn id="64"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5">
                                            <p:txEl>
                                              <p:pRg st="8" end="8"/>
                                            </p:txEl>
                                          </p:spTgt>
                                        </p:tgtEl>
                                        <p:attrNameLst>
                                          <p:attrName>style.visibility</p:attrName>
                                        </p:attrNameLst>
                                      </p:cBhvr>
                                      <p:to>
                                        <p:strVal val="visible"/>
                                      </p:to>
                                    </p:set>
                                    <p:animEffect transition="in" filter="fade">
                                      <p:cBhvr>
                                        <p:cTn id="70" dur="1000"/>
                                        <p:tgtEl>
                                          <p:spTgt spid="5">
                                            <p:txEl>
                                              <p:pRg st="8" end="8"/>
                                            </p:txEl>
                                          </p:spTgt>
                                        </p:tgtEl>
                                      </p:cBhvr>
                                    </p:animEffect>
                                    <p:anim calcmode="lin" valueType="num">
                                      <p:cBhvr>
                                        <p:cTn id="71"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371EA1AE-BFFC-5530-AA3D-71065639E57A}"/>
              </a:ext>
            </a:extLst>
          </p:cNvPr>
          <p:cNvSpPr txBox="1"/>
          <p:nvPr/>
        </p:nvSpPr>
        <p:spPr>
          <a:xfrm>
            <a:off x="2426511" y="1669654"/>
            <a:ext cx="6100948" cy="369332"/>
          </a:xfrm>
          <a:prstGeom prst="rect">
            <a:avLst/>
          </a:prstGeom>
          <a:noFill/>
        </p:spPr>
        <p:txBody>
          <a:bodyPr wrap="square">
            <a:spAutoFit/>
          </a:bodyPr>
          <a:lstStyle/>
          <a:p>
            <a:r>
              <a:rPr lang="en-IN" dirty="0"/>
              <a:t>Dataset Understanding and Preparation</a:t>
            </a:r>
          </a:p>
        </p:txBody>
      </p:sp>
      <p:pic>
        <p:nvPicPr>
          <p:cNvPr id="9" name="Picture 8">
            <a:extLst>
              <a:ext uri="{FF2B5EF4-FFF2-40B4-BE49-F238E27FC236}">
                <a16:creationId xmlns:a16="http://schemas.microsoft.com/office/drawing/2014/main" id="{5B2468B5-E641-6FC5-DA66-DCCFA8236615}"/>
              </a:ext>
            </a:extLst>
          </p:cNvPr>
          <p:cNvPicPr>
            <a:picLocks noChangeAspect="1"/>
          </p:cNvPicPr>
          <p:nvPr/>
        </p:nvPicPr>
        <p:blipFill>
          <a:blip r:embed="rId3"/>
          <a:stretch>
            <a:fillRect/>
          </a:stretch>
        </p:blipFill>
        <p:spPr>
          <a:xfrm>
            <a:off x="255667" y="2189870"/>
            <a:ext cx="4767595" cy="3669935"/>
          </a:xfrm>
          <a:prstGeom prst="rect">
            <a:avLst/>
          </a:prstGeom>
        </p:spPr>
      </p:pic>
      <p:pic>
        <p:nvPicPr>
          <p:cNvPr id="11" name="Picture 10">
            <a:extLst>
              <a:ext uri="{FF2B5EF4-FFF2-40B4-BE49-F238E27FC236}">
                <a16:creationId xmlns:a16="http://schemas.microsoft.com/office/drawing/2014/main" id="{FB62C95B-EA96-F29D-5D8A-09D3392CB25E}"/>
              </a:ext>
            </a:extLst>
          </p:cNvPr>
          <p:cNvPicPr>
            <a:picLocks noChangeAspect="1"/>
          </p:cNvPicPr>
          <p:nvPr/>
        </p:nvPicPr>
        <p:blipFill>
          <a:blip r:embed="rId4"/>
          <a:stretch>
            <a:fillRect/>
          </a:stretch>
        </p:blipFill>
        <p:spPr>
          <a:xfrm>
            <a:off x="5142015" y="2189870"/>
            <a:ext cx="4839195" cy="365279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4392FD5E-F7F8-B30F-E6BB-711F2E1A9F63}"/>
              </a:ext>
            </a:extLst>
          </p:cNvPr>
          <p:cNvSpPr txBox="1"/>
          <p:nvPr/>
        </p:nvSpPr>
        <p:spPr>
          <a:xfrm>
            <a:off x="3092038" y="1667790"/>
            <a:ext cx="6100948" cy="369332"/>
          </a:xfrm>
          <a:prstGeom prst="rect">
            <a:avLst/>
          </a:prstGeom>
          <a:noFill/>
        </p:spPr>
        <p:txBody>
          <a:bodyPr wrap="square">
            <a:spAutoFit/>
          </a:bodyPr>
          <a:lstStyle/>
          <a:p>
            <a:r>
              <a:rPr lang="en-IN" dirty="0"/>
              <a:t>Seasonal Performance Analysis</a:t>
            </a:r>
          </a:p>
        </p:txBody>
      </p:sp>
      <p:pic>
        <p:nvPicPr>
          <p:cNvPr id="12" name="Picture 11">
            <a:extLst>
              <a:ext uri="{FF2B5EF4-FFF2-40B4-BE49-F238E27FC236}">
                <a16:creationId xmlns:a16="http://schemas.microsoft.com/office/drawing/2014/main" id="{CAB77074-6435-FE47-105D-013A0CE0C5D0}"/>
              </a:ext>
            </a:extLst>
          </p:cNvPr>
          <p:cNvPicPr>
            <a:picLocks noChangeAspect="1"/>
          </p:cNvPicPr>
          <p:nvPr/>
        </p:nvPicPr>
        <p:blipFill>
          <a:blip r:embed="rId3"/>
          <a:stretch>
            <a:fillRect/>
          </a:stretch>
        </p:blipFill>
        <p:spPr>
          <a:xfrm>
            <a:off x="87561" y="2120254"/>
            <a:ext cx="4906013" cy="3962568"/>
          </a:xfrm>
          <a:prstGeom prst="rect">
            <a:avLst/>
          </a:prstGeom>
        </p:spPr>
      </p:pic>
      <p:pic>
        <p:nvPicPr>
          <p:cNvPr id="14" name="Picture 13">
            <a:extLst>
              <a:ext uri="{FF2B5EF4-FFF2-40B4-BE49-F238E27FC236}">
                <a16:creationId xmlns:a16="http://schemas.microsoft.com/office/drawing/2014/main" id="{7474769F-87B7-92FD-01D6-E705B004A637}"/>
              </a:ext>
            </a:extLst>
          </p:cNvPr>
          <p:cNvPicPr>
            <a:picLocks noChangeAspect="1"/>
          </p:cNvPicPr>
          <p:nvPr/>
        </p:nvPicPr>
        <p:blipFill>
          <a:blip r:embed="rId4"/>
          <a:stretch>
            <a:fillRect/>
          </a:stretch>
        </p:blipFill>
        <p:spPr>
          <a:xfrm>
            <a:off x="5077548" y="2120253"/>
            <a:ext cx="5004604" cy="396256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342AEEBF-A04C-32D6-F58F-5B63DF6B22D3}"/>
              </a:ext>
            </a:extLst>
          </p:cNvPr>
          <p:cNvSpPr txBox="1"/>
          <p:nvPr/>
        </p:nvSpPr>
        <p:spPr>
          <a:xfrm>
            <a:off x="3045526" y="1675592"/>
            <a:ext cx="6100948" cy="369332"/>
          </a:xfrm>
          <a:prstGeom prst="rect">
            <a:avLst/>
          </a:prstGeom>
          <a:noFill/>
        </p:spPr>
        <p:txBody>
          <a:bodyPr wrap="square">
            <a:spAutoFit/>
          </a:bodyPr>
          <a:lstStyle/>
          <a:p>
            <a:r>
              <a:rPr lang="en-IN" dirty="0"/>
              <a:t>Crop and Environmental Analysis</a:t>
            </a:r>
          </a:p>
        </p:txBody>
      </p:sp>
      <p:pic>
        <p:nvPicPr>
          <p:cNvPr id="12" name="Picture 11">
            <a:extLst>
              <a:ext uri="{FF2B5EF4-FFF2-40B4-BE49-F238E27FC236}">
                <a16:creationId xmlns:a16="http://schemas.microsoft.com/office/drawing/2014/main" id="{94F58842-1C8E-24CB-D8CE-5817F2548243}"/>
              </a:ext>
            </a:extLst>
          </p:cNvPr>
          <p:cNvPicPr>
            <a:picLocks noChangeAspect="1"/>
          </p:cNvPicPr>
          <p:nvPr/>
        </p:nvPicPr>
        <p:blipFill>
          <a:blip r:embed="rId3"/>
          <a:stretch>
            <a:fillRect/>
          </a:stretch>
        </p:blipFill>
        <p:spPr>
          <a:xfrm>
            <a:off x="246493" y="2533615"/>
            <a:ext cx="4865836" cy="3346139"/>
          </a:xfrm>
          <a:prstGeom prst="rect">
            <a:avLst/>
          </a:prstGeom>
        </p:spPr>
      </p:pic>
      <p:pic>
        <p:nvPicPr>
          <p:cNvPr id="14" name="Picture 13">
            <a:extLst>
              <a:ext uri="{FF2B5EF4-FFF2-40B4-BE49-F238E27FC236}">
                <a16:creationId xmlns:a16="http://schemas.microsoft.com/office/drawing/2014/main" id="{4251A596-88CC-388B-F72E-5FB82D2E185A}"/>
              </a:ext>
            </a:extLst>
          </p:cNvPr>
          <p:cNvPicPr>
            <a:picLocks noChangeAspect="1"/>
          </p:cNvPicPr>
          <p:nvPr/>
        </p:nvPicPr>
        <p:blipFill>
          <a:blip r:embed="rId4"/>
          <a:stretch>
            <a:fillRect/>
          </a:stretch>
        </p:blipFill>
        <p:spPr>
          <a:xfrm>
            <a:off x="5201413" y="2533615"/>
            <a:ext cx="4708546" cy="334613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239E2858-9EA9-3E3D-E86B-7271C53F956D}"/>
              </a:ext>
            </a:extLst>
          </p:cNvPr>
          <p:cNvSpPr txBox="1"/>
          <p:nvPr/>
        </p:nvSpPr>
        <p:spPr>
          <a:xfrm>
            <a:off x="2759528" y="1675592"/>
            <a:ext cx="6100948" cy="369332"/>
          </a:xfrm>
          <a:prstGeom prst="rect">
            <a:avLst/>
          </a:prstGeom>
          <a:noFill/>
        </p:spPr>
        <p:txBody>
          <a:bodyPr wrap="square">
            <a:spAutoFit/>
          </a:bodyPr>
          <a:lstStyle/>
          <a:p>
            <a:r>
              <a:rPr lang="en-IN" dirty="0"/>
              <a:t>Statistical Analysis and Insights</a:t>
            </a:r>
          </a:p>
        </p:txBody>
      </p:sp>
      <p:pic>
        <p:nvPicPr>
          <p:cNvPr id="12" name="Picture 11">
            <a:extLst>
              <a:ext uri="{FF2B5EF4-FFF2-40B4-BE49-F238E27FC236}">
                <a16:creationId xmlns:a16="http://schemas.microsoft.com/office/drawing/2014/main" id="{AA7AFC7D-8490-25A1-B694-33CE17DD7040}"/>
              </a:ext>
            </a:extLst>
          </p:cNvPr>
          <p:cNvPicPr>
            <a:picLocks noChangeAspect="1"/>
          </p:cNvPicPr>
          <p:nvPr/>
        </p:nvPicPr>
        <p:blipFill>
          <a:blip r:embed="rId3"/>
          <a:stretch>
            <a:fillRect/>
          </a:stretch>
        </p:blipFill>
        <p:spPr>
          <a:xfrm>
            <a:off x="77190" y="2250373"/>
            <a:ext cx="4399692" cy="3883231"/>
          </a:xfrm>
          <a:prstGeom prst="rect">
            <a:avLst/>
          </a:prstGeom>
        </p:spPr>
      </p:pic>
      <p:pic>
        <p:nvPicPr>
          <p:cNvPr id="14" name="Picture 13">
            <a:extLst>
              <a:ext uri="{FF2B5EF4-FFF2-40B4-BE49-F238E27FC236}">
                <a16:creationId xmlns:a16="http://schemas.microsoft.com/office/drawing/2014/main" id="{5FA328CB-1069-28A3-DAFE-8365C381A9C3}"/>
              </a:ext>
            </a:extLst>
          </p:cNvPr>
          <p:cNvPicPr>
            <a:picLocks noChangeAspect="1"/>
          </p:cNvPicPr>
          <p:nvPr/>
        </p:nvPicPr>
        <p:blipFill>
          <a:blip r:embed="rId4"/>
          <a:stretch>
            <a:fillRect/>
          </a:stretch>
        </p:blipFill>
        <p:spPr>
          <a:xfrm>
            <a:off x="4499016" y="2250373"/>
            <a:ext cx="5298128" cy="388323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E328554-7B4F-6B9A-53C2-3C2121E8C48D}"/>
              </a:ext>
            </a:extLst>
          </p:cNvPr>
          <p:cNvPicPr>
            <a:picLocks noChangeAspect="1"/>
          </p:cNvPicPr>
          <p:nvPr/>
        </p:nvPicPr>
        <p:blipFill>
          <a:blip r:embed="rId3"/>
          <a:stretch>
            <a:fillRect/>
          </a:stretch>
        </p:blipFill>
        <p:spPr>
          <a:xfrm>
            <a:off x="189706" y="1445077"/>
            <a:ext cx="5676704" cy="5026843"/>
          </a:xfrm>
          <a:prstGeom prst="rect">
            <a:avLst/>
          </a:prstGeom>
        </p:spPr>
      </p:pic>
      <p:pic>
        <p:nvPicPr>
          <p:cNvPr id="12" name="Picture 11">
            <a:extLst>
              <a:ext uri="{FF2B5EF4-FFF2-40B4-BE49-F238E27FC236}">
                <a16:creationId xmlns:a16="http://schemas.microsoft.com/office/drawing/2014/main" id="{C9EE8CF5-57E3-8E92-715F-8E28D32CD190}"/>
              </a:ext>
            </a:extLst>
          </p:cNvPr>
          <p:cNvPicPr>
            <a:picLocks noChangeAspect="1"/>
          </p:cNvPicPr>
          <p:nvPr/>
        </p:nvPicPr>
        <p:blipFill>
          <a:blip r:embed="rId4"/>
          <a:stretch>
            <a:fillRect/>
          </a:stretch>
        </p:blipFill>
        <p:spPr>
          <a:xfrm>
            <a:off x="5997686" y="1445077"/>
            <a:ext cx="5334274" cy="2871604"/>
          </a:xfrm>
          <a:prstGeom prst="rect">
            <a:avLst/>
          </a:prstGeom>
        </p:spPr>
      </p:pic>
      <p:pic>
        <p:nvPicPr>
          <p:cNvPr id="14" name="Picture 13">
            <a:extLst>
              <a:ext uri="{FF2B5EF4-FFF2-40B4-BE49-F238E27FC236}">
                <a16:creationId xmlns:a16="http://schemas.microsoft.com/office/drawing/2014/main" id="{FBCDCF6D-5F61-1DFB-E0AD-BD757A3404CC}"/>
              </a:ext>
            </a:extLst>
          </p:cNvPr>
          <p:cNvPicPr>
            <a:picLocks noChangeAspect="1"/>
          </p:cNvPicPr>
          <p:nvPr/>
        </p:nvPicPr>
        <p:blipFill>
          <a:blip r:embed="rId5"/>
          <a:stretch>
            <a:fillRect/>
          </a:stretch>
        </p:blipFill>
        <p:spPr>
          <a:xfrm>
            <a:off x="5997685" y="4371469"/>
            <a:ext cx="5334273" cy="208290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a:extLst>
              <a:ext uri="{FF2B5EF4-FFF2-40B4-BE49-F238E27FC236}">
                <a16:creationId xmlns:a16="http://schemas.microsoft.com/office/drawing/2014/main" id="{CAEE77E1-AA8C-393F-F9DB-860431B9192C}"/>
              </a:ext>
            </a:extLst>
          </p:cNvPr>
          <p:cNvSpPr>
            <a:spLocks noGrp="1"/>
          </p:cNvSpPr>
          <p:nvPr>
            <p:ph type="body" sz="quarter" idx="12"/>
          </p:nvPr>
        </p:nvSpPr>
        <p:spPr>
          <a:xfrm>
            <a:off x="405212" y="1103179"/>
            <a:ext cx="9451308" cy="3607987"/>
          </a:xfrm>
        </p:spPr>
        <p:txBody>
          <a:bodyPr vert="horz" lIns="91440" tIns="45720" rIns="91440" bIns="45720" rtlCol="0" anchor="t">
            <a:noAutofit/>
          </a:bodyPr>
          <a:lstStyle/>
          <a:p>
            <a:pPr marL="0" indent="0">
              <a:buNone/>
            </a:pPr>
            <a:r>
              <a:rPr lang="en-IN" sz="1400" dirty="0"/>
              <a:t>The current project focuses on descriptive and comparative analysis of seasonal agricultural performance.</a:t>
            </a:r>
          </a:p>
          <a:p>
            <a:pPr marL="0" indent="0">
              <a:buNone/>
            </a:pPr>
            <a:r>
              <a:rPr lang="en-IN" sz="1400" dirty="0"/>
              <a:t>Future enhancements may include:</a:t>
            </a:r>
          </a:p>
          <a:p>
            <a:pPr marL="0" indent="0">
              <a:buNone/>
            </a:pPr>
            <a:r>
              <a:rPr lang="en-IN" sz="1400" b="1" dirty="0"/>
              <a:t>Predictive Analytics</a:t>
            </a:r>
          </a:p>
          <a:p>
            <a:pPr lvl="0"/>
            <a:r>
              <a:rPr lang="en-IN" sz="1400" dirty="0"/>
              <a:t>Crop Yield Prediction</a:t>
            </a:r>
          </a:p>
          <a:p>
            <a:pPr lvl="0"/>
            <a:r>
              <a:rPr lang="en-IN" sz="1400" dirty="0"/>
              <a:t>Revenue Forecasting</a:t>
            </a:r>
          </a:p>
          <a:p>
            <a:pPr lvl="0"/>
            <a:r>
              <a:rPr lang="en-IN" sz="1400" dirty="0"/>
              <a:t>Profit Forecasting</a:t>
            </a:r>
          </a:p>
          <a:p>
            <a:pPr marL="0" indent="0">
              <a:buNone/>
            </a:pPr>
            <a:r>
              <a:rPr lang="en-IN" sz="1400" b="1" dirty="0"/>
              <a:t>Machine Learning Applications</a:t>
            </a:r>
          </a:p>
          <a:p>
            <a:pPr lvl="0"/>
            <a:r>
              <a:rPr lang="en-IN" sz="1400" dirty="0"/>
              <a:t>Crop Recommendation Systems</a:t>
            </a:r>
          </a:p>
          <a:p>
            <a:pPr lvl="0"/>
            <a:r>
              <a:rPr lang="en-IN" sz="1400" dirty="0"/>
              <a:t>Seasonal Risk Prediction Models</a:t>
            </a:r>
          </a:p>
          <a:p>
            <a:pPr marL="0" indent="0">
              <a:buNone/>
            </a:pPr>
            <a:r>
              <a:rPr lang="en-IN" sz="1400" b="1" dirty="0"/>
              <a:t>Interactive Analytics</a:t>
            </a:r>
          </a:p>
          <a:p>
            <a:pPr lvl="0"/>
            <a:r>
              <a:rPr lang="en-IN" sz="1400" dirty="0"/>
              <a:t>Real-Time Dashboards</a:t>
            </a:r>
          </a:p>
          <a:p>
            <a:pPr lvl="0"/>
            <a:r>
              <a:rPr lang="en-IN" sz="1400" dirty="0"/>
              <a:t>Web-Based Visualization Platforms</a:t>
            </a:r>
          </a:p>
          <a:p>
            <a:pPr marL="0" indent="0">
              <a:buNone/>
            </a:pPr>
            <a:r>
              <a:rPr lang="en-IN" sz="1400" b="1" dirty="0"/>
              <a:t>Decision Support Systems</a:t>
            </a:r>
          </a:p>
          <a:p>
            <a:pPr lvl="0"/>
            <a:r>
              <a:rPr lang="en-IN" sz="1400" dirty="0"/>
              <a:t>Data-Driven Agricultural Planning</a:t>
            </a:r>
          </a:p>
          <a:p>
            <a:pPr lvl="0"/>
            <a:r>
              <a:rPr lang="en-IN" sz="1400" dirty="0"/>
              <a:t>Resource Optimization Frameworks</a:t>
            </a:r>
          </a:p>
          <a:p>
            <a:r>
              <a:rPr lang="en-IN" sz="1400" dirty="0"/>
              <a:t>These enhancements could extend the project from analytical reporting to intelligent decision support.</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0" end="0"/>
                                            </p:txEl>
                                          </p:spTgt>
                                        </p:tgtEl>
                                        <p:attrNameLst>
                                          <p:attrName>style.visibility</p:attrName>
                                        </p:attrNameLst>
                                      </p:cBhvr>
                                      <p:to>
                                        <p:strVal val="visible"/>
                                      </p:to>
                                    </p:set>
                                    <p:animEffect transition="in" filter="fade">
                                      <p:cBhvr>
                                        <p:cTn id="28" dur="1000"/>
                                        <p:tgtEl>
                                          <p:spTgt spid="2">
                                            <p:txEl>
                                              <p:pRg st="0" end="0"/>
                                            </p:txEl>
                                          </p:spTgt>
                                        </p:tgtEl>
                                      </p:cBhvr>
                                    </p:animEffect>
                                    <p:anim calcmode="lin" valueType="num">
                                      <p:cBhvr>
                                        <p:cTn id="29"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1" end="1"/>
                                            </p:txEl>
                                          </p:spTgt>
                                        </p:tgtEl>
                                        <p:attrNameLst>
                                          <p:attrName>style.visibility</p:attrName>
                                        </p:attrNameLst>
                                      </p:cBhvr>
                                      <p:to>
                                        <p:strVal val="visible"/>
                                      </p:to>
                                    </p:set>
                                    <p:animEffect transition="in" filter="fade">
                                      <p:cBhvr>
                                        <p:cTn id="35" dur="1000"/>
                                        <p:tgtEl>
                                          <p:spTgt spid="2">
                                            <p:txEl>
                                              <p:pRg st="1" end="1"/>
                                            </p:txEl>
                                          </p:spTgt>
                                        </p:tgtEl>
                                      </p:cBhvr>
                                    </p:animEffect>
                                    <p:anim calcmode="lin" valueType="num">
                                      <p:cBhvr>
                                        <p:cTn id="36"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fade">
                                      <p:cBhvr>
                                        <p:cTn id="42" dur="1000"/>
                                        <p:tgtEl>
                                          <p:spTgt spid="2">
                                            <p:txEl>
                                              <p:pRg st="2" end="2"/>
                                            </p:txEl>
                                          </p:spTgt>
                                        </p:tgtEl>
                                      </p:cBhvr>
                                    </p:animEffect>
                                    <p:anim calcmode="lin" valueType="num">
                                      <p:cBhvr>
                                        <p:cTn id="4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3" end="3"/>
                                            </p:txEl>
                                          </p:spTgt>
                                        </p:tgtEl>
                                        <p:attrNameLst>
                                          <p:attrName>style.visibility</p:attrName>
                                        </p:attrNameLst>
                                      </p:cBhvr>
                                      <p:to>
                                        <p:strVal val="visible"/>
                                      </p:to>
                                    </p:set>
                                    <p:animEffect transition="in" filter="fade">
                                      <p:cBhvr>
                                        <p:cTn id="49" dur="1000"/>
                                        <p:tgtEl>
                                          <p:spTgt spid="2">
                                            <p:txEl>
                                              <p:pRg st="3" end="3"/>
                                            </p:txEl>
                                          </p:spTgt>
                                        </p:tgtEl>
                                      </p:cBhvr>
                                    </p:animEffect>
                                    <p:anim calcmode="lin" valueType="num">
                                      <p:cBhvr>
                                        <p:cTn id="50"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4" end="4"/>
                                            </p:txEl>
                                          </p:spTgt>
                                        </p:tgtEl>
                                        <p:attrNameLst>
                                          <p:attrName>style.visibility</p:attrName>
                                        </p:attrNameLst>
                                      </p:cBhvr>
                                      <p:to>
                                        <p:strVal val="visible"/>
                                      </p:to>
                                    </p:set>
                                    <p:animEffect transition="in" filter="fade">
                                      <p:cBhvr>
                                        <p:cTn id="56" dur="1000"/>
                                        <p:tgtEl>
                                          <p:spTgt spid="2">
                                            <p:txEl>
                                              <p:pRg st="4" end="4"/>
                                            </p:txEl>
                                          </p:spTgt>
                                        </p:tgtEl>
                                      </p:cBhvr>
                                    </p:animEffect>
                                    <p:anim calcmode="lin" valueType="num">
                                      <p:cBhvr>
                                        <p:cTn id="57"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5" end="5"/>
                                            </p:txEl>
                                          </p:spTgt>
                                        </p:tgtEl>
                                        <p:attrNameLst>
                                          <p:attrName>style.visibility</p:attrName>
                                        </p:attrNameLst>
                                      </p:cBhvr>
                                      <p:to>
                                        <p:strVal val="visible"/>
                                      </p:to>
                                    </p:set>
                                    <p:animEffect transition="in" filter="fade">
                                      <p:cBhvr>
                                        <p:cTn id="63" dur="1000"/>
                                        <p:tgtEl>
                                          <p:spTgt spid="2">
                                            <p:txEl>
                                              <p:pRg st="5" end="5"/>
                                            </p:txEl>
                                          </p:spTgt>
                                        </p:tgtEl>
                                      </p:cBhvr>
                                    </p:animEffect>
                                    <p:anim calcmode="lin" valueType="num">
                                      <p:cBhvr>
                                        <p:cTn id="64"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6" end="6"/>
                                            </p:txEl>
                                          </p:spTgt>
                                        </p:tgtEl>
                                        <p:attrNameLst>
                                          <p:attrName>style.visibility</p:attrName>
                                        </p:attrNameLst>
                                      </p:cBhvr>
                                      <p:to>
                                        <p:strVal val="visible"/>
                                      </p:to>
                                    </p:set>
                                    <p:animEffect transition="in" filter="fade">
                                      <p:cBhvr>
                                        <p:cTn id="70" dur="1000"/>
                                        <p:tgtEl>
                                          <p:spTgt spid="2">
                                            <p:txEl>
                                              <p:pRg st="6" end="6"/>
                                            </p:txEl>
                                          </p:spTgt>
                                        </p:tgtEl>
                                      </p:cBhvr>
                                    </p:animEffect>
                                    <p:anim calcmode="lin" valueType="num">
                                      <p:cBhvr>
                                        <p:cTn id="71"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7" end="7"/>
                                            </p:txEl>
                                          </p:spTgt>
                                        </p:tgtEl>
                                        <p:attrNameLst>
                                          <p:attrName>style.visibility</p:attrName>
                                        </p:attrNameLst>
                                      </p:cBhvr>
                                      <p:to>
                                        <p:strVal val="visible"/>
                                      </p:to>
                                    </p:set>
                                    <p:animEffect transition="in" filter="fade">
                                      <p:cBhvr>
                                        <p:cTn id="77" dur="1000"/>
                                        <p:tgtEl>
                                          <p:spTgt spid="2">
                                            <p:txEl>
                                              <p:pRg st="7" end="7"/>
                                            </p:txEl>
                                          </p:spTgt>
                                        </p:tgtEl>
                                      </p:cBhvr>
                                    </p:animEffect>
                                    <p:anim calcmode="lin" valueType="num">
                                      <p:cBhvr>
                                        <p:cTn id="78"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8" end="8"/>
                                            </p:txEl>
                                          </p:spTgt>
                                        </p:tgtEl>
                                        <p:attrNameLst>
                                          <p:attrName>style.visibility</p:attrName>
                                        </p:attrNameLst>
                                      </p:cBhvr>
                                      <p:to>
                                        <p:strVal val="visible"/>
                                      </p:to>
                                    </p:set>
                                    <p:animEffect transition="in" filter="fade">
                                      <p:cBhvr>
                                        <p:cTn id="84" dur="1000"/>
                                        <p:tgtEl>
                                          <p:spTgt spid="2">
                                            <p:txEl>
                                              <p:pRg st="8" end="8"/>
                                            </p:txEl>
                                          </p:spTgt>
                                        </p:tgtEl>
                                      </p:cBhvr>
                                    </p:animEffect>
                                    <p:anim calcmode="lin" valueType="num">
                                      <p:cBhvr>
                                        <p:cTn id="85"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9" end="9"/>
                                            </p:txEl>
                                          </p:spTgt>
                                        </p:tgtEl>
                                        <p:attrNameLst>
                                          <p:attrName>style.visibility</p:attrName>
                                        </p:attrNameLst>
                                      </p:cBhvr>
                                      <p:to>
                                        <p:strVal val="visible"/>
                                      </p:to>
                                    </p:set>
                                    <p:animEffect transition="in" filter="fade">
                                      <p:cBhvr>
                                        <p:cTn id="91" dur="1000"/>
                                        <p:tgtEl>
                                          <p:spTgt spid="2">
                                            <p:txEl>
                                              <p:pRg st="9" end="9"/>
                                            </p:txEl>
                                          </p:spTgt>
                                        </p:tgtEl>
                                      </p:cBhvr>
                                    </p:animEffect>
                                    <p:anim calcmode="lin" valueType="num">
                                      <p:cBhvr>
                                        <p:cTn id="92"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
                                            <p:txEl>
                                              <p:pRg st="10" end="10"/>
                                            </p:txEl>
                                          </p:spTgt>
                                        </p:tgtEl>
                                        <p:attrNameLst>
                                          <p:attrName>style.visibility</p:attrName>
                                        </p:attrNameLst>
                                      </p:cBhvr>
                                      <p:to>
                                        <p:strVal val="visible"/>
                                      </p:to>
                                    </p:set>
                                    <p:animEffect transition="in" filter="fade">
                                      <p:cBhvr>
                                        <p:cTn id="98" dur="1000"/>
                                        <p:tgtEl>
                                          <p:spTgt spid="2">
                                            <p:txEl>
                                              <p:pRg st="10" end="10"/>
                                            </p:txEl>
                                          </p:spTgt>
                                        </p:tgtEl>
                                      </p:cBhvr>
                                    </p:animEffect>
                                    <p:anim calcmode="lin" valueType="num">
                                      <p:cBhvr>
                                        <p:cTn id="99"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100"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
                                            <p:txEl>
                                              <p:pRg st="11" end="11"/>
                                            </p:txEl>
                                          </p:spTgt>
                                        </p:tgtEl>
                                        <p:attrNameLst>
                                          <p:attrName>style.visibility</p:attrName>
                                        </p:attrNameLst>
                                      </p:cBhvr>
                                      <p:to>
                                        <p:strVal val="visible"/>
                                      </p:to>
                                    </p:set>
                                    <p:animEffect transition="in" filter="fade">
                                      <p:cBhvr>
                                        <p:cTn id="105" dur="1000"/>
                                        <p:tgtEl>
                                          <p:spTgt spid="2">
                                            <p:txEl>
                                              <p:pRg st="11" end="11"/>
                                            </p:txEl>
                                          </p:spTgt>
                                        </p:tgtEl>
                                      </p:cBhvr>
                                    </p:animEffect>
                                    <p:anim calcmode="lin" valueType="num">
                                      <p:cBhvr>
                                        <p:cTn id="106"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107"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2">
                                            <p:txEl>
                                              <p:pRg st="12" end="12"/>
                                            </p:txEl>
                                          </p:spTgt>
                                        </p:tgtEl>
                                        <p:attrNameLst>
                                          <p:attrName>style.visibility</p:attrName>
                                        </p:attrNameLst>
                                      </p:cBhvr>
                                      <p:to>
                                        <p:strVal val="visible"/>
                                      </p:to>
                                    </p:set>
                                    <p:animEffect transition="in" filter="fade">
                                      <p:cBhvr>
                                        <p:cTn id="112" dur="1000"/>
                                        <p:tgtEl>
                                          <p:spTgt spid="2">
                                            <p:txEl>
                                              <p:pRg st="12" end="12"/>
                                            </p:txEl>
                                          </p:spTgt>
                                        </p:tgtEl>
                                      </p:cBhvr>
                                    </p:animEffect>
                                    <p:anim calcmode="lin" valueType="num">
                                      <p:cBhvr>
                                        <p:cTn id="113"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114"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2">
                                            <p:txEl>
                                              <p:pRg st="13" end="13"/>
                                            </p:txEl>
                                          </p:spTgt>
                                        </p:tgtEl>
                                        <p:attrNameLst>
                                          <p:attrName>style.visibility</p:attrName>
                                        </p:attrNameLst>
                                      </p:cBhvr>
                                      <p:to>
                                        <p:strVal val="visible"/>
                                      </p:to>
                                    </p:set>
                                    <p:animEffect transition="in" filter="fade">
                                      <p:cBhvr>
                                        <p:cTn id="119" dur="1000"/>
                                        <p:tgtEl>
                                          <p:spTgt spid="2">
                                            <p:txEl>
                                              <p:pRg st="13" end="13"/>
                                            </p:txEl>
                                          </p:spTgt>
                                        </p:tgtEl>
                                      </p:cBhvr>
                                    </p:animEffect>
                                    <p:anim calcmode="lin" valueType="num">
                                      <p:cBhvr>
                                        <p:cTn id="120"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121" dur="1000" fill="hold"/>
                                        <p:tgtEl>
                                          <p:spTgt spid="2">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2">
                                            <p:txEl>
                                              <p:pRg st="14" end="14"/>
                                            </p:txEl>
                                          </p:spTgt>
                                        </p:tgtEl>
                                        <p:attrNameLst>
                                          <p:attrName>style.visibility</p:attrName>
                                        </p:attrNameLst>
                                      </p:cBhvr>
                                      <p:to>
                                        <p:strVal val="visible"/>
                                      </p:to>
                                    </p:set>
                                    <p:animEffect transition="in" filter="fade">
                                      <p:cBhvr>
                                        <p:cTn id="126" dur="1000"/>
                                        <p:tgtEl>
                                          <p:spTgt spid="2">
                                            <p:txEl>
                                              <p:pRg st="14" end="14"/>
                                            </p:txEl>
                                          </p:spTgt>
                                        </p:tgtEl>
                                      </p:cBhvr>
                                    </p:animEffect>
                                    <p:anim calcmode="lin" valueType="num">
                                      <p:cBhvr>
                                        <p:cTn id="127" dur="1000" fill="hold"/>
                                        <p:tgtEl>
                                          <p:spTgt spid="2">
                                            <p:txEl>
                                              <p:pRg st="14" end="14"/>
                                            </p:txEl>
                                          </p:spTgt>
                                        </p:tgtEl>
                                        <p:attrNameLst>
                                          <p:attrName>ppt_x</p:attrName>
                                        </p:attrNameLst>
                                      </p:cBhvr>
                                      <p:tavLst>
                                        <p:tav tm="0">
                                          <p:val>
                                            <p:strVal val="#ppt_x"/>
                                          </p:val>
                                        </p:tav>
                                        <p:tav tm="100000">
                                          <p:val>
                                            <p:strVal val="#ppt_x"/>
                                          </p:val>
                                        </p:tav>
                                      </p:tavLst>
                                    </p:anim>
                                    <p:anim calcmode="lin" valueType="num">
                                      <p:cBhvr>
                                        <p:cTn id="128" dur="1000" fill="hold"/>
                                        <p:tgtEl>
                                          <p:spTgt spid="2">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2">
                                            <p:txEl>
                                              <p:pRg st="15" end="15"/>
                                            </p:txEl>
                                          </p:spTgt>
                                        </p:tgtEl>
                                        <p:attrNameLst>
                                          <p:attrName>style.visibility</p:attrName>
                                        </p:attrNameLst>
                                      </p:cBhvr>
                                      <p:to>
                                        <p:strVal val="visible"/>
                                      </p:to>
                                    </p:set>
                                    <p:animEffect transition="in" filter="fade">
                                      <p:cBhvr>
                                        <p:cTn id="133" dur="1000"/>
                                        <p:tgtEl>
                                          <p:spTgt spid="2">
                                            <p:txEl>
                                              <p:pRg st="15" end="15"/>
                                            </p:txEl>
                                          </p:spTgt>
                                        </p:tgtEl>
                                      </p:cBhvr>
                                    </p:animEffect>
                                    <p:anim calcmode="lin" valueType="num">
                                      <p:cBhvr>
                                        <p:cTn id="134" dur="1000" fill="hold"/>
                                        <p:tgtEl>
                                          <p:spTgt spid="2">
                                            <p:txEl>
                                              <p:pRg st="15" end="15"/>
                                            </p:txEl>
                                          </p:spTgt>
                                        </p:tgtEl>
                                        <p:attrNameLst>
                                          <p:attrName>ppt_x</p:attrName>
                                        </p:attrNameLst>
                                      </p:cBhvr>
                                      <p:tavLst>
                                        <p:tav tm="0">
                                          <p:val>
                                            <p:strVal val="#ppt_x"/>
                                          </p:val>
                                        </p:tav>
                                        <p:tav tm="100000">
                                          <p:val>
                                            <p:strVal val="#ppt_x"/>
                                          </p:val>
                                        </p:tav>
                                      </p:tavLst>
                                    </p:anim>
                                    <p:anim calcmode="lin" valueType="num">
                                      <p:cBhvr>
                                        <p:cTn id="135" dur="1000" fill="hold"/>
                                        <p:tgtEl>
                                          <p:spTgt spid="2">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https://github.com/LEGIONM3/Seasonal-Agriculture-Performance-Analysis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57AB15F-C05E-8B81-76ED-4091BA7214F1}"/>
              </a:ext>
            </a:extLst>
          </p:cNvPr>
          <p:cNvPicPr>
            <a:picLocks noChangeAspect="1"/>
          </p:cNvPicPr>
          <p:nvPr/>
        </p:nvPicPr>
        <p:blipFill>
          <a:blip r:embed="rId3"/>
          <a:stretch>
            <a:fillRect/>
          </a:stretch>
        </p:blipFill>
        <p:spPr>
          <a:xfrm>
            <a:off x="526048" y="1443341"/>
            <a:ext cx="8001411" cy="528099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6492" y="627577"/>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2" name="Text Placeholder 1">
            <a:extLst>
              <a:ext uri="{FF2B5EF4-FFF2-40B4-BE49-F238E27FC236}">
                <a16:creationId xmlns:a16="http://schemas.microsoft.com/office/drawing/2014/main" id="{292865AD-AC35-FA0C-DB8F-6B1DD1739A3C}"/>
              </a:ext>
            </a:extLst>
          </p:cNvPr>
          <p:cNvSpPr txBox="1">
            <a:spLocks/>
          </p:cNvSpPr>
          <p:nvPr/>
        </p:nvSpPr>
        <p:spPr>
          <a:xfrm>
            <a:off x="987102" y="1922322"/>
            <a:ext cx="9089111" cy="3607987"/>
          </a:xfrm>
          <a:prstGeom prst="rect">
            <a:avLst/>
          </a:prstGeom>
        </p:spPr>
        <p:txBody>
          <a:bodyPr vert="horz" lIns="91440" tIns="45720" rIns="91440" bIns="45720" rtlCol="0" anchor="t">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dirty="0"/>
              <a:t>This project demonstrates the application of data analytics techniques to understand seasonal agricultural performance and derive meaningful insights from real-world data.</a:t>
            </a:r>
          </a:p>
          <a:p>
            <a:r>
              <a:rPr lang="en-IN" dirty="0"/>
              <a:t>The study highlights the importance of data-driven approaches in understanding agricultural trends, improving resource utilization, and supporting informed decision-making.</a:t>
            </a:r>
          </a:p>
          <a:p>
            <a:r>
              <a:rPr lang="en-IN" dirty="0"/>
              <a:t>Presented By:</a:t>
            </a:r>
            <a:br>
              <a:rPr lang="en-IN" dirty="0"/>
            </a:br>
            <a:r>
              <a:rPr lang="en-IN" dirty="0"/>
              <a:t>Mohith R</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2">
                                            <p:txEl>
                                              <p:pRg st="0" end="0"/>
                                            </p:txEl>
                                          </p:spTgt>
                                        </p:tgtEl>
                                        <p:attrNameLst>
                                          <p:attrName>style.visibility</p:attrName>
                                        </p:attrNameLst>
                                      </p:cBhvr>
                                      <p:to>
                                        <p:strVal val="visible"/>
                                      </p:to>
                                    </p:set>
                                    <p:animEffect transition="in" filter="fade">
                                      <p:cBhvr>
                                        <p:cTn id="44" dur="1000"/>
                                        <p:tgtEl>
                                          <p:spTgt spid="2">
                                            <p:txEl>
                                              <p:pRg st="0" end="0"/>
                                            </p:txEl>
                                          </p:spTgt>
                                        </p:tgtEl>
                                      </p:cBhvr>
                                    </p:animEffect>
                                    <p:anim calcmode="lin" valueType="num">
                                      <p:cBhvr>
                                        <p:cTn id="4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4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2">
                                            <p:txEl>
                                              <p:pRg st="1" end="1"/>
                                            </p:txEl>
                                          </p:spTgt>
                                        </p:tgtEl>
                                        <p:attrNameLst>
                                          <p:attrName>style.visibility</p:attrName>
                                        </p:attrNameLst>
                                      </p:cBhvr>
                                      <p:to>
                                        <p:strVal val="visible"/>
                                      </p:to>
                                    </p:set>
                                    <p:animEffect transition="in" filter="fade">
                                      <p:cBhvr>
                                        <p:cTn id="51" dur="1000"/>
                                        <p:tgtEl>
                                          <p:spTgt spid="2">
                                            <p:txEl>
                                              <p:pRg st="1" end="1"/>
                                            </p:txEl>
                                          </p:spTgt>
                                        </p:tgtEl>
                                      </p:cBhvr>
                                    </p:animEffect>
                                    <p:anim calcmode="lin" valueType="num">
                                      <p:cBhvr>
                                        <p:cTn id="5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5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2">
                                            <p:txEl>
                                              <p:pRg st="2" end="2"/>
                                            </p:txEl>
                                          </p:spTgt>
                                        </p:tgtEl>
                                        <p:attrNameLst>
                                          <p:attrName>style.visibility</p:attrName>
                                        </p:attrNameLst>
                                      </p:cBhvr>
                                      <p:to>
                                        <p:strVal val="visible"/>
                                      </p:to>
                                    </p:set>
                                    <p:animEffect transition="in" filter="fade">
                                      <p:cBhvr>
                                        <p:cTn id="58" dur="1000"/>
                                        <p:tgtEl>
                                          <p:spTgt spid="2">
                                            <p:txEl>
                                              <p:pRg st="2" end="2"/>
                                            </p:txEl>
                                          </p:spTgt>
                                        </p:tgtEl>
                                      </p:cBhvr>
                                    </p:animEffect>
                                    <p:anim calcmode="lin" valueType="num">
                                      <p:cBhvr>
                                        <p:cTn id="5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6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P spid="2" grpId="0" build="p"/>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purl.org/dc/terms/"/>
    <ds:schemaRef ds:uri="16c05727-aa75-4e4a-9b5f-8a80a1165891"/>
    <ds:schemaRef ds:uri="71af3243-3dd4-4a8d-8c0d-dd76da1f02a5"/>
    <ds:schemaRef ds:uri="http://schemas.microsoft.com/office/2006/documentManagement/types"/>
    <ds:schemaRef ds:uri="http://www.w3.org/XML/1998/namespace"/>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1395</TotalTime>
  <Words>545</Words>
  <Application>Microsoft Office PowerPoint</Application>
  <PresentationFormat>Widescreen</PresentationFormat>
  <Paragraphs>74</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Mohith R</cp:lastModifiedBy>
  <cp:revision>98</cp:revision>
  <dcterms:created xsi:type="dcterms:W3CDTF">2021-07-11T13:13:15Z</dcterms:created>
  <dcterms:modified xsi:type="dcterms:W3CDTF">2026-09-16T09:03:22Z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